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58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C191A-58A5-8813-1C33-FE3CE5FA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F76B9-6A66-4AA7-5F1E-F3ECD1E87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C314F-C35A-F565-1141-40C5C977B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30EDE-DBBC-F977-BDFB-AD2CC8C79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29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12212-1E56-C5A5-2A42-2F6868598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079" y="315960"/>
            <a:ext cx="5105842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5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5E784-D91E-D829-A783-ED753DE61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be.png">
            <a:extLst>
              <a:ext uri="{FF2B5EF4-FFF2-40B4-BE49-F238E27FC236}">
                <a16:creationId xmlns:a16="http://schemas.microsoft.com/office/drawing/2014/main" id="{97F6618B-7CF4-4D17-2133-1F02D45BB4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8869680" y="3291840"/>
            <a:ext cx="3291840" cy="32918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B88A83-E08B-18FF-A668-6BD53078BA76}"/>
              </a:ext>
            </a:extLst>
          </p:cNvPr>
          <p:cNvSpPr/>
          <p:nvPr/>
        </p:nvSpPr>
        <p:spPr>
          <a:xfrm>
            <a:off x="640080" y="640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CSA1603 – DATA WAREHOUSE AND DATA MINING</a:t>
            </a:r>
            <a:endParaRPr lang="en-US" sz="1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15CB5C1-3B8B-730B-46BA-7C259D3325ED}"/>
              </a:ext>
            </a:extLst>
          </p:cNvPr>
          <p:cNvSpPr/>
          <p:nvPr/>
        </p:nvSpPr>
        <p:spPr>
          <a:xfrm>
            <a:off x="640080" y="1371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Data Cube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9AB53E1-2099-B4E0-3FE1-16559421EF44}"/>
              </a:ext>
            </a:extLst>
          </p:cNvPr>
          <p:cNvSpPr/>
          <p:nvPr/>
        </p:nvSpPr>
        <p:spPr>
          <a:xfrm>
            <a:off x="640080" y="22402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Journey Through OLAP Operations</a:t>
            </a:r>
            <a:endParaRPr lang="en-US" sz="2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1B96BEB-FE17-B237-179F-FA599F359563}"/>
              </a:ext>
            </a:extLst>
          </p:cNvPr>
          <p:cNvSpPr/>
          <p:nvPr/>
        </p:nvSpPr>
        <p:spPr>
          <a:xfrm>
            <a:off x="640080" y="2971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analysts roll up, drill down, slice, dice, and pivot their way to insight</a:t>
            </a:r>
            <a:endParaRPr lang="en-US" sz="1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2126993-82A4-9F51-C953-14BA0AC83BD7}"/>
              </a:ext>
            </a:extLst>
          </p:cNvPr>
          <p:cNvSpPr/>
          <p:nvPr/>
        </p:nvSpPr>
        <p:spPr>
          <a:xfrm>
            <a:off x="640080" y="5394960"/>
            <a:ext cx="5852160" cy="1051560"/>
          </a:xfrm>
          <a:prstGeom prst="roundRect">
            <a:avLst>
              <a:gd name="adj" fmla="val 6957"/>
            </a:avLst>
          </a:prstGeom>
          <a:solidFill>
            <a:srgbClr val="131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635DD59-195B-919D-DBE1-D99A114E0344}"/>
              </a:ext>
            </a:extLst>
          </p:cNvPr>
          <p:cNvSpPr/>
          <p:nvPr/>
        </p:nvSpPr>
        <p:spPr>
          <a:xfrm>
            <a:off x="868680" y="5486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SAI DEEPAK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192311432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CSA1603 – Data Warehouse and Data Mining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3121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OLAP?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viewed from every angle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Analytical Processing 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business users explore data stored as a </a:t>
            </a: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 cube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flat spreadsheet.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169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 —  </a:t>
            </a: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Product, Region — the ways you slice the business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301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838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 —  </a:t>
            </a: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Quantity — the numbers you're analyzing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9709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507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 —  </a:t>
            </a: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→ Month → Year, or City → State → Country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</p:spPr>
      </p:sp>
      <p:pic>
        <p:nvPicPr>
          <p:cNvPr id="12" name="Image 0" descr="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65960"/>
            <a:ext cx="1691640" cy="1691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26480" y="37947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CUBE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3796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B4A6B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– Time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B4A6B"/>
          </a:solidFill>
          <a:ln/>
        </p:spPr>
      </p:sp>
      <p:sp>
        <p:nvSpPr>
          <p:cNvPr id="17" name="Text 14"/>
          <p:cNvSpPr/>
          <p:nvPr/>
        </p:nvSpPr>
        <p:spPr>
          <a:xfrm>
            <a:off x="827532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– Product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001268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B4A6B"/>
          </a:solidFill>
          <a:ln/>
        </p:spPr>
      </p:sp>
      <p:sp>
        <p:nvSpPr>
          <p:cNvPr id="19" name="Text 16"/>
          <p:cNvSpPr/>
          <p:nvPr/>
        </p:nvSpPr>
        <p:spPr>
          <a:xfrm>
            <a:off x="1001268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– Region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55080" y="50749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touches multiple dimensions at once — giving answers a flat table never could.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Roll-Up &amp; Drill-Down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Climbing and descending the concept hierarchy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arrow_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848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ROLL-UP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detailed data by climbing up a concept hierarchy, or by reducing the number of dimensions — turning granular rows into a summarized view.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97280" y="45262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526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325880" y="50749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132588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77640" y="5029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→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arrow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084832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58368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roll-up — navigates from summarized data toward finer detail, revealing the lower levels of a hierarchy on demand.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040880" y="39776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22" name="Text 18"/>
          <p:cNvSpPr/>
          <p:nvPr/>
        </p:nvSpPr>
        <p:spPr>
          <a:xfrm>
            <a:off x="704088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812280" y="45262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4526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583680" y="507492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786384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detail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 &amp; Dice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Carving a smaller, sharper view out of the cube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</p:spPr>
      </p:sp>
      <p:pic>
        <p:nvPicPr>
          <p:cNvPr id="5" name="Image 0" descr="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38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one dimension to a single value, cutting a single flat “slice” out of the cube — e.g. Sales where Year = 2025.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3749040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38528" y="3749040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05456" y="3749040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1600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05456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71600" y="4882896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38528" y="4882896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05456" y="4882896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= 2025 → one full slice selected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C7293"/>
          </a:solidFill>
          <a:ln/>
        </p:spPr>
      </p:sp>
      <p:pic>
        <p:nvPicPr>
          <p:cNvPr id="19" name="Image 1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6596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938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58368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two or more dimensions to specific values, producing a smaller sub-cube — e.g. Sales where Region = South AND Product = Electronics.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086600" y="3749040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653528" y="3749040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20456" y="3749040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086600" y="4315968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653528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20456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086600" y="4882896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653528" y="4882896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20456" y="4882896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8368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+ Product fixed → sub-cube selected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(Rotate)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a completely new perspective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299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rotates the data axes of the cube to display an alternative orientation — for instance, swapping what appears in the rows versus the columns of a report. The underlying data never changes, only the vantage point.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544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use pivot to compare the same figures across different report layouts without re-querying the warehouse.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rows = Region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214884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48840"/>
            <a:ext cx="24688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 columns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83680" y="2560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0" y="29992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0" y="343814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32688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rows = Product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326880" y="214884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0" y="2148840"/>
            <a:ext cx="24688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932688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→ columns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418320" y="2560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418320" y="29992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418320" y="343814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</a:t>
            </a:r>
            <a:endParaRPr lang="en-US" sz="1050" dirty="0"/>
          </a:p>
        </p:txBody>
      </p:sp>
      <p:pic>
        <p:nvPicPr>
          <p:cNvPr id="22" name="Image 1" descr="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651760"/>
            <a:ext cx="502920" cy="5029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492240" y="42519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4407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766560" y="473659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pivot can turn a Region-first report into a Product-first report in seconds — no rebuilding the query, no waiting on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Real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OLAP operations matter in the real world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31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026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23774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re-view data — not days of re-querying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31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8358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377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Multi-Angle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72000" y="3429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from one cube, endless perspectives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31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8690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88" y="23774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75320" y="3429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decisions, backed by live detail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20" name="Text 15"/>
          <p:cNvSpPr/>
          <p:nvPr/>
        </p:nvSpPr>
        <p:spPr>
          <a:xfrm>
            <a:off x="1005840" y="4754880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Roll-up, drill-down, slice, dice, and pivot are the five moves that turn a static warehouse into a living conversation with the data — every rotation of the cube reveals a question the business didn’t know it could ask.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Sai Deepak  |  Reg No: 192311432  |  CSA1603 – Data Warehouse and Data Mining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530</Words>
  <Application>Microsoft Office PowerPoint</Application>
  <PresentationFormat>Widescreen</PresentationFormat>
  <Paragraphs>72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DEEPAK GONTLA</cp:lastModifiedBy>
  <cp:revision>2</cp:revision>
  <dcterms:created xsi:type="dcterms:W3CDTF">2026-07-18T11:10:43Z</dcterms:created>
  <dcterms:modified xsi:type="dcterms:W3CDTF">2026-07-30T03:30:50Z</dcterms:modified>
</cp:coreProperties>
</file>